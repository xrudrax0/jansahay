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548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28800" y="1188720"/>
            <a:ext cx="8531352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16200000">
              <a:srgbClr val="3B82F6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0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6000" dirty="0"/>
          </a:p>
        </p:txBody>
      </p:sp>
      <p:sp>
        <p:nvSpPr>
          <p:cNvPr id="16" name="Shape 14"/>
          <p:cNvSpPr/>
          <p:nvPr/>
        </p:nvSpPr>
        <p:spPr>
          <a:xfrm>
            <a:off x="3474720" y="2743200"/>
            <a:ext cx="5212080" cy="502920"/>
          </a:xfrm>
          <a:prstGeom prst="roundRect">
            <a:avLst>
              <a:gd name="adj" fmla="val 49091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743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PUBLIC-SERVICE  COPILOT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474720"/>
            <a:ext cx="7616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government services effortlessly. Our AI copilot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understands your needs, checks eligibility, and guides you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through any public-service journey.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4754880"/>
            <a:ext cx="3044952" cy="0"/>
          </a:xfrm>
          <a:prstGeom prst="line">
            <a:avLst/>
          </a:prstGeom>
          <a:noFill/>
          <a:ln w="9525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5029200"/>
            <a:ext cx="7616952" cy="1188720"/>
          </a:xfrm>
          <a:prstGeom prst="roundRect">
            <a:avLst>
              <a:gd name="adj" fmla="val 6154"/>
            </a:avLst>
          </a:prstGeom>
          <a:solidFill>
            <a:srgbClr val="0C1528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5166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 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[Your Team Name]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5577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 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[Member 1, Member 2, Member 3]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  /  07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5676" y="502920"/>
            <a:ext cx="3657600" cy="594360"/>
          </a:xfrm>
          <a:prstGeom prst="roundRect">
            <a:avLst>
              <a:gd name="adj" fmla="val 49231"/>
            </a:avLst>
          </a:prstGeom>
          <a:solidFill>
            <a:srgbClr val="0C15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9E0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65676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11457432" cy="5029200"/>
          </a:xfrm>
          <a:prstGeom prst="roundRect">
            <a:avLst>
              <a:gd name="adj" fmla="val 2182"/>
            </a:avLst>
          </a:prstGeom>
          <a:ln w="9525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  /  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1554480"/>
            <a:ext cx="350215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Gap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21945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struggle to discover which government schemes they qualify for among thousands of programs across departments.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06824" y="1554480"/>
            <a:ext cx="350215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17830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Friction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219456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document verification is slow, error-prone, and creates bottlenecks delaying benefit distribution.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" y="3886200"/>
            <a:ext cx="350215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Barriers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4526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barriers and low digital literacy exclude the most vulnerable populations from vital services.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886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06824" y="3886200"/>
            <a:ext cx="3502152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4114800"/>
            <a:ext cx="384048" cy="384048"/>
          </a:xfrm>
          <a:prstGeom prst="ellipse">
            <a:avLst/>
          </a:prstGeom>
          <a:solidFill>
            <a:srgbClr val="EF4444">
              <a:alpha val="20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8348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Unified Tracking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480560" y="4526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way to track applications across departments — missed deadlines, lost paperwork, repeated visits.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38160" y="1554480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0C1528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SCALE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95360" y="2103120"/>
            <a:ext cx="27432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950M+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87552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Indians lack easy access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government schemes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95360" y="2971800"/>
            <a:ext cx="2743200" cy="0"/>
          </a:xfrm>
          <a:prstGeom prst="line">
            <a:avLst/>
          </a:prstGeom>
          <a:noFill/>
          <a:ln w="3810">
            <a:solidFill>
              <a:srgbClr val="1A27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3246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87552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eligible beneficiaries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apply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95360" y="3931920"/>
            <a:ext cx="2743200" cy="0"/>
          </a:xfrm>
          <a:prstGeom prst="line">
            <a:avLst/>
          </a:prstGeom>
          <a:noFill/>
          <a:ln w="3810">
            <a:solidFill>
              <a:srgbClr val="1A2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4206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₹2.7L Cr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87552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welfare benefits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unclaimed yearly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95360" y="4892040"/>
            <a:ext cx="2743200" cy="0"/>
          </a:xfrm>
          <a:prstGeom prst="line">
            <a:avLst/>
          </a:prstGeom>
          <a:noFill/>
          <a:ln w="3810">
            <a:solidFill>
              <a:srgbClr val="1A27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5166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23+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987552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ministries with separate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portals &amp; processes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5676" y="502920"/>
            <a:ext cx="3657600" cy="594360"/>
          </a:xfrm>
          <a:prstGeom prst="roundRect">
            <a:avLst>
              <a:gd name="adj" fmla="val 49231"/>
            </a:avLst>
          </a:prstGeom>
          <a:solidFill>
            <a:srgbClr val="0C15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9E0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65676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11457432" cy="5029200"/>
          </a:xfrm>
          <a:prstGeom prst="roundRect">
            <a:avLst>
              <a:gd name="adj" fmla="val 2182"/>
            </a:avLst>
          </a:prstGeom>
          <a:ln w="9525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  /  07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JANSAHAY transforms public service 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9202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1920240"/>
            <a:ext cx="263347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17320" y="2651760"/>
            <a:ext cx="731520" cy="731520"/>
          </a:xfrm>
          <a:prstGeom prst="ellipse">
            <a:avLst/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AI COPILOT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062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Understands user needs in natural language and instantly matches them with relevant government services and schemes.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089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38144" y="1920240"/>
            <a:ext cx="263347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51960" y="2651760"/>
            <a:ext cx="731520" cy="731520"/>
          </a:xfrm>
          <a:prstGeom prst="ellipse">
            <a:avLst/>
          </a:prstGeom>
          <a:solidFill>
            <a:srgbClr val="10B981">
              <a:alpha val="1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56616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DOCTOR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11880" y="42062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extraction and verification of details from uploaded documents — income certificates, IDs, and more.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263640" y="19202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72784" y="1920240"/>
            <a:ext cx="263347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86600" y="2651760"/>
            <a:ext cx="731520" cy="731520"/>
          </a:xfrm>
          <a:prstGeom prst="ellipse">
            <a:avLst/>
          </a:prstGeom>
          <a:solidFill>
            <a:srgbClr val="F59E0B">
              <a:alpha val="1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40080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MATCHING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46520" y="42062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discovers schemes citizens qualify for based on their profile, alerting them to new opportunities.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7782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098280" y="192024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07424" y="1920240"/>
            <a:ext cx="263347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21240" y="2651760"/>
            <a:ext cx="731520" cy="731520"/>
          </a:xfrm>
          <a:prstGeom prst="ellipse">
            <a:avLst/>
          </a:prstGeom>
          <a:solidFill>
            <a:srgbClr val="06B6D4">
              <a:alpha val="18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2124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923544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JOURNEY TRACKER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81160" y="42062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dashboard to track every application with real-time status updates, reminders, and next-step guidance.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5676" y="502920"/>
            <a:ext cx="3657600" cy="594360"/>
          </a:xfrm>
          <a:prstGeom prst="roundRect">
            <a:avLst>
              <a:gd name="adj" fmla="val 49231"/>
            </a:avLst>
          </a:prstGeom>
          <a:solidFill>
            <a:srgbClr val="0C15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9E0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65676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11457432" cy="5029200"/>
          </a:xfrm>
          <a:prstGeom prst="roundRect">
            <a:avLst>
              <a:gd name="adj" fmla="val 2182"/>
            </a:avLst>
          </a:prstGeom>
          <a:ln w="9525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  /  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1508760"/>
            <a:ext cx="9144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15087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15819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/ Next.js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CSS, TypeScript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Web App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514600"/>
            <a:ext cx="0" cy="228600"/>
          </a:xfrm>
          <a:prstGeom prst="line">
            <a:avLst/>
          </a:prstGeom>
          <a:noFill/>
          <a:ln w="12700">
            <a:solidFill>
              <a:srgbClr val="1A274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971800" y="2514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2743200"/>
            <a:ext cx="9144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274320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2816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2788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Orchestration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+ Entity Extraction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Matching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3749040"/>
            <a:ext cx="0" cy="228600"/>
          </a:xfrm>
          <a:prstGeom prst="line">
            <a:avLst/>
          </a:prstGeom>
          <a:noFill/>
          <a:ln w="12700">
            <a:solidFill>
              <a:srgbClr val="1A2744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971800" y="3749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" y="3977640"/>
            <a:ext cx="91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39776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" y="4050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17520" y="4023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/ NLP Pipelines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 Rule Engine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Scheme Database Indexer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4983480"/>
            <a:ext cx="0" cy="228600"/>
          </a:xfrm>
          <a:prstGeom prst="line">
            <a:avLst/>
          </a:prstGeom>
          <a:noFill/>
          <a:ln w="12700">
            <a:solidFill>
              <a:srgbClr val="1A2744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971800" y="4983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▼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" y="5212080"/>
            <a:ext cx="9144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52120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60120" y="52852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17520" y="5257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/ MongoDB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Cloud Storage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Cache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150876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0" y="2057400"/>
            <a:ext cx="402336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2286000"/>
            <a:ext cx="64008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2960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React, Next.js, Tailwind CSS, TypeScript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2907792"/>
            <a:ext cx="6400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28620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ML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29600" y="28620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(GPT / Gemini), OCR, NLP Pipelines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92240" y="3529584"/>
            <a:ext cx="6400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34838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29600" y="34838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FastAPI, Node.js, REST APIs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92240" y="4151376"/>
            <a:ext cx="64008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41056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29600" y="410565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PostgreSQL, MongoDB, Redis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92240" y="4773168"/>
            <a:ext cx="64008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4727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29600" y="4727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Docker, Kubernetes, CI/CD, AWS/GCP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92240" y="5394960"/>
            <a:ext cx="64008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5349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229600" y="5349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2.0, AES Encryption, RBAC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5676" y="502920"/>
            <a:ext cx="3657600" cy="594360"/>
          </a:xfrm>
          <a:prstGeom prst="roundRect">
            <a:avLst>
              <a:gd name="adj" fmla="val 49231"/>
            </a:avLst>
          </a:prstGeom>
          <a:solidFill>
            <a:srgbClr val="0C15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9E0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65676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USED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11457432" cy="5029200"/>
          </a:xfrm>
          <a:prstGeom prst="roundRect">
            <a:avLst>
              <a:gd name="adj" fmla="val 2182"/>
            </a:avLst>
          </a:prstGeom>
          <a:ln w="9525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  /  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155448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" y="1554480"/>
            <a:ext cx="267919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1874520"/>
            <a:ext cx="685800" cy="68580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33756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375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/ Next.js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393192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9319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452628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262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512064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12064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155448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46704" y="1554480"/>
            <a:ext cx="267919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1874520"/>
            <a:ext cx="685800" cy="6858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33756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INTELLIGENCE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20440" y="333756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33375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20440" y="393192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39319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Vision / OCR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20440" y="452628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45262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Pipelines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20440" y="512064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512064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155448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81344" y="1554480"/>
            <a:ext cx="267919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1874520"/>
            <a:ext cx="685800" cy="6858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17220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INFRA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55080" y="333756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3375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(FastAPI)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393192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39319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Runtime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452628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45262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MongoDB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55080" y="512064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512064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&amp; K8s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006840" y="155448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015984" y="1554480"/>
            <a:ext cx="267919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75520" y="1874520"/>
            <a:ext cx="685800" cy="685800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7552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900684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&amp; SECURITY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189720" y="333756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89720" y="333756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/ JWT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89720" y="393192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89720" y="39319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 Encryption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189720" y="452628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89720" y="45262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Policies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189720" y="512064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060B18"/>
          </a:solidFill>
          <a:ln w="6350">
            <a:solidFill>
              <a:srgbClr val="1A27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89720" y="512064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Logging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5676" y="502920"/>
            <a:ext cx="3657600" cy="594360"/>
          </a:xfrm>
          <a:prstGeom prst="roundRect">
            <a:avLst>
              <a:gd name="adj" fmla="val 49231"/>
            </a:avLst>
          </a:prstGeom>
          <a:solidFill>
            <a:srgbClr val="0C15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9E0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65676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11457432" cy="5029200"/>
          </a:xfrm>
          <a:prstGeom prst="roundRect">
            <a:avLst>
              <a:gd name="adj" fmla="val 2182"/>
            </a:avLst>
          </a:prstGeom>
          <a:ln w="9525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  /  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1554480"/>
            <a:ext cx="10908792" cy="4572000"/>
          </a:xfrm>
          <a:prstGeom prst="roundRect">
            <a:avLst>
              <a:gd name="adj" fmla="val 1600"/>
            </a:avLst>
          </a:prstGeom>
          <a:solidFill>
            <a:srgbClr val="0C1528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2743200"/>
            <a:ext cx="1371600" cy="1371600"/>
          </a:xfrm>
          <a:prstGeom prst="ellipse">
            <a:avLst/>
          </a:prstGeom>
          <a:solidFill>
            <a:srgbClr val="3B82F6">
              <a:alpha val="35000"/>
            </a:srgbClr>
          </a:solidFill>
          <a:ln w="31750">
            <a:solidFill>
              <a:srgbClr val="3B82F6"/>
            </a:solidFill>
            <a:prstDash val="solid"/>
          </a:ln>
          <a:effectLst>
            <a:outerShdw sx="100000" sy="100000" kx="0" ky="0" algn="bl" rotWithShape="0" blurRad="254000" dist="50800" dir="16200000">
              <a:srgbClr val="3B82F6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58968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▶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200400" y="429768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TO PLAY DEMO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475488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video link for demo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53035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5303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" y="5577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[URL]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53035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5303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5577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[URL]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53035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5303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DEMO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46720" y="5577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[URL]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82212" y="502920"/>
            <a:ext cx="4224528" cy="594360"/>
          </a:xfrm>
          <a:prstGeom prst="roundRect">
            <a:avLst>
              <a:gd name="adj" fmla="val 49231"/>
            </a:avLst>
          </a:prstGeom>
          <a:solidFill>
            <a:srgbClr val="0C15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9E0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82212" y="502920"/>
            <a:ext cx="4224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 / SCALABILITY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11457432" cy="5029200"/>
          </a:xfrm>
          <a:prstGeom prst="roundRect">
            <a:avLst>
              <a:gd name="adj" fmla="val 2182"/>
            </a:avLst>
          </a:prstGeom>
          <a:ln w="9525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07  /  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1554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" y="1554480"/>
            <a:ext cx="254203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10×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0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scheme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1554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00984" y="1554480"/>
            <a:ext cx="254203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3832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processing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554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44184" y="1554480"/>
            <a:ext cx="254203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1264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assistance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78240" y="1554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787384" y="1554480"/>
            <a:ext cx="25420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∞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8696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to any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scheme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0175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" y="3017520"/>
            <a:ext cx="528523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36576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digital divide for millions of underserved citizens</a:t>
            </a:r>
            <a:endParaRPr lang="en-US" sz="1100" dirty="0"/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processing time from weeks to minutes with AI verification</a:t>
            </a:r>
            <a:endParaRPr lang="en-US" sz="1100" dirty="0"/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missed opportunities through proactive scheme matching</a:t>
            </a:r>
            <a:endParaRPr lang="en-US" sz="1100" dirty="0"/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multi-language interactions for inclusive access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0175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0C1528"/>
          </a:solidFill>
          <a:ln w="9525">
            <a:solidFill>
              <a:srgbClr val="1A27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35624" y="3017520"/>
            <a:ext cx="52852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09360" y="36576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Cloud-native microservices for horizontal scaling</a:t>
            </a:r>
            <a:endParaRPr lang="en-US" sz="1100" dirty="0"/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Plug-and-play integration with new government portals</a:t>
            </a:r>
            <a:endParaRPr lang="en-US" sz="1100" dirty="0"/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/ voice assistant integration for wider reach</a:t>
            </a:r>
            <a:endParaRPr lang="en-US" sz="1100" dirty="0"/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at district, state, or national level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029200" cy="50292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B6D4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20272" y="2286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60352" y="22860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20272" y="6400800"/>
            <a:ext cx="64008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60352" y="5760720"/>
            <a:ext cx="0" cy="64008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♛  ♛  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1044" y="502920"/>
            <a:ext cx="4626864" cy="594360"/>
          </a:xfrm>
          <a:prstGeom prst="roundRect">
            <a:avLst>
              <a:gd name="adj" fmla="val 49231"/>
            </a:avLst>
          </a:prstGeom>
          <a:solidFill>
            <a:srgbClr val="0C15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9E0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81044" y="502920"/>
            <a:ext cx="4626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JANSAHAY EXPERIENCE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" y="1280160"/>
            <a:ext cx="11457432" cy="5029200"/>
          </a:xfrm>
          <a:prstGeom prst="roundRect">
            <a:avLst>
              <a:gd name="adj" fmla="val 2182"/>
            </a:avLst>
          </a:prstGeom>
          <a:ln w="9525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46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JANSAHAY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0★  /  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150876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0C1528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D:\nsut\ppt\images\dashboard.p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563624"/>
            <a:ext cx="5330952" cy="1965960"/>
          </a:xfrm>
          <a:prstGeom prst="ellipse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57784" y="3566160"/>
            <a:ext cx="5330952" cy="365760"/>
          </a:xfrm>
          <a:prstGeom prst="rect">
            <a:avLst/>
          </a:prstGeom>
          <a:solidFill>
            <a:srgbClr val="0C1528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38728"/>
            <a:ext cx="2720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Dashboard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5800" y="3703320"/>
            <a:ext cx="5074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home with insights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217920" y="150876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0C1528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pic>
        <p:nvPicPr>
          <p:cNvPr id="25" name="Image 1" descr="D:\nsut\ppt\images\ai_agent.p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563624"/>
            <a:ext cx="5330952" cy="1965960"/>
          </a:xfrm>
          <a:prstGeom prst="ellipse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272784" y="3566160"/>
            <a:ext cx="5330952" cy="365760"/>
          </a:xfrm>
          <a:prstGeom prst="rect">
            <a:avLst/>
          </a:prstGeom>
          <a:solidFill>
            <a:srgbClr val="0C1528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0" y="3538728"/>
            <a:ext cx="2720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Workspace Assistant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400800" y="3703320"/>
            <a:ext cx="5074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copilot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02920" y="41605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0C1528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pic>
        <p:nvPicPr>
          <p:cNvPr id="30" name="Image 2" descr="D:\nsut\ppt\images\discover.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15384"/>
            <a:ext cx="5330952" cy="1965960"/>
          </a:xfrm>
          <a:prstGeom prst="ellipse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57784" y="6217920"/>
            <a:ext cx="5330952" cy="365760"/>
          </a:xfrm>
          <a:prstGeom prst="rect">
            <a:avLst/>
          </a:prstGeom>
          <a:solidFill>
            <a:srgbClr val="0C1528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5800" y="6190488"/>
            <a:ext cx="2720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Services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85800" y="6355080"/>
            <a:ext cx="5074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Filtered scheme discovery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6217920" y="41605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0C1528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pic>
        <p:nvPicPr>
          <p:cNvPr id="35" name="Image 3" descr="D:\nsut\ppt\images\document_doctor.p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4215384"/>
            <a:ext cx="5330952" cy="1965960"/>
          </a:xfrm>
          <a:prstGeom prst="ellipse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272784" y="6217920"/>
            <a:ext cx="5330952" cy="365760"/>
          </a:xfrm>
          <a:prstGeom prst="rect">
            <a:avLst/>
          </a:prstGeom>
          <a:solidFill>
            <a:srgbClr val="0C1528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400800" y="6190488"/>
            <a:ext cx="2720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Doctor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400800" y="6355080"/>
            <a:ext cx="5074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extraction &amp; verification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JANSAHAY — AI Public-Service Copilot</dc:subject>
  <dc:creator>JANSAHAY Team</dc:creator>
  <cp:lastModifiedBy>JANSAHAY Team</cp:lastModifiedBy>
  <cp:revision>1</cp:revision>
  <dcterms:created xsi:type="dcterms:W3CDTF">2026-08-17T15:22:35Z</dcterms:created>
  <dcterms:modified xsi:type="dcterms:W3CDTF">2026-08-17T15:22:35Z</dcterms:modified>
</cp:coreProperties>
</file>